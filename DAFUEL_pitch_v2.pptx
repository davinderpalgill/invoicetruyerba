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3657600" cy="54864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Reimagining How
The World Energizes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DAA"/>
                </a:solidFill>
              </a:rPr>
              <a:t>UAE Investor Edition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19456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Welcome to DAFUEL — revolutionizing energy
supplementation through clean, plant-based
innovation. Fueling performance worldwide.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572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40A"/>
                </a:solidFill>
              </a:rPr>
              <a:t>World's First
Yerba Mate Kombucha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5577840"/>
            <a:ext cx="3657600" cy="457200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Clean Energy. Elevated.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  |  2026</a:t>
            </a:r>
          </a:p>
        </p:txBody>
      </p:sp>
      <p:pic>
        <p:nvPicPr>
          <p:cNvPr id="14" name="Picture 13" descr="Image (19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DAFUEL?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DAA"/>
                </a:solidFill>
              </a:rPr>
              <a:t>Performance Nutrition. Plant-Powered. Purpose-Built.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DAFuel is a pioneering performance nutrition brand committed to revolutionizing energy supplementation through clean, plant-based innovation. Our flagship product, Truyerba Power Gummies, offers fast-acting, natural caffeine from yerba mate — a healthier, more convenient alternative to traditional stimulants.</a:t>
            </a:r>
          </a:p>
          <a:p>
            <a:pPr algn="l"/>
            <a:endParaRPr sz="1300" b="0">
              <a:solidFill>
                <a:srgbClr val="222222"/>
              </a:solidFill>
            </a:endParaRPr>
          </a:p>
          <a:p>
            <a:pPr algn="l"/>
            <a:r>
              <a:rPr sz="1300" b="0">
                <a:solidFill>
                  <a:srgbClr val="222222"/>
                </a:solidFill>
              </a:rPr>
              <a:t>Designed for athletes, professionals, and high-performers, DAFuel products are rooted in cutting-edge food science, sustainability, and modern lifestyle needs — focusing on taste, efficacy, and clean ingredients.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66160"/>
            <a:ext cx="11247120" cy="640080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We're the only brand in India making Yerba Mate products and the World's First Yerba Mate Kombucha Maker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389120"/>
            <a:ext cx="3657600" cy="173736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449884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Athletes &amp; Gym-Goers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09744"/>
            <a:ext cx="3438144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Natural pre-workout energy without synthetic caffeine or crashes.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389120"/>
            <a:ext cx="3657600" cy="173736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449884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Busy Professionals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4809744"/>
            <a:ext cx="3438144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Sustained focus for long work hours — portable and convenient.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4389120"/>
            <a:ext cx="3657600" cy="173736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7" y="449884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Health-Conscious Consumers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7" y="4809744"/>
            <a:ext cx="3438144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Clean-label, organic, plant-based — aligned with modern wellness trends.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Mission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DAA"/>
                </a:solidFill>
              </a:rPr>
              <a:t>Plant-Powered. Performance-Driven. Global.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2560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40A"/>
                </a:solidFill>
              </a:rPr>
              <a:t>Our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Empower high-performance individuals with clean, plant-based nutrition that delivers sustained energy and enhances focus — without compromising health benefits.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03520" cy="2560320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Our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659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Become the global leader in plant-powered performance nutrition, transforming energy with sustainable, science-backed alternatives.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5016"/>
                </a:solidFill>
              </a:rPr>
              <a:t>Our Values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2651760" cy="173736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4681728"/>
            <a:ext cx="2432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Clean Ingredients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992624"/>
            <a:ext cx="2432304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No synthetics, no compromises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572000"/>
            <a:ext cx="2651760" cy="173736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93008" y="4681728"/>
            <a:ext cx="2432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Science-Backed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4992624"/>
            <a:ext cx="2432304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Formulations rooted in food science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572000"/>
            <a:ext cx="2651760" cy="173736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4681728"/>
            <a:ext cx="2432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Sustainability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992624"/>
            <a:ext cx="2432304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Eco-conscious production practices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4572000"/>
            <a:ext cx="2651760" cy="173736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45168" y="4681728"/>
            <a:ext cx="2432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4992624"/>
            <a:ext cx="2432304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Efficacy at every dose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Problem: Fueling Your Life, The Right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749039" cy="182880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435607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1. Unhealthy Caffeine Consumption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746504"/>
            <a:ext cx="3529583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Reliance on sugar-laden drinks and acidic coffee leads to crashes and long-term health issues.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25880"/>
            <a:ext cx="3749039" cy="182880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07408" y="1435607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2. Lack of Convenient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1746504"/>
            <a:ext cx="3529583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Limited portable, fast-acting, clean-label alternatives for on-the-go professionals and athletes.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25880"/>
            <a:ext cx="3749039" cy="182880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7" y="1435607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3. One-Size-Fits-All Solutions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1746504"/>
            <a:ext cx="3529583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Current energy products lack personalized nutrition and tech-enabled performance tracking.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5577840" cy="192024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3447288"/>
            <a:ext cx="53583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4. Limited Innovation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758184"/>
            <a:ext cx="5358383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The functional food sector needs more clean, plant-based delivery formats aligning with current trends.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337560"/>
            <a:ext cx="5577840" cy="192024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3447288"/>
            <a:ext cx="53583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5. Overdependence on Synthetics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758184"/>
            <a:ext cx="5358383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Many mainstream products contain artificial additives, harming performance and long-term wellness.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DAFUEL Solutions: Clean Energy, Elevated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669280" cy="219456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540A"/>
                </a:solidFill>
              </a:rPr>
              <a:t>Healthy, Clean Caffeine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Naturally extracted yerba mate for smooth, crash-free energy — free from sugar or harmful additives.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25880"/>
            <a:ext cx="5669280" cy="219456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540A"/>
                </a:solidFill>
              </a:rPr>
              <a:t>Convenient Energy Gummies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Portable, fast-acting gummies for instant energy — perfect for athletes and busy professionals.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49039"/>
            <a:ext cx="5669280" cy="2194560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5669280" cy="45720"/>
          </a:xfrm>
          <a:prstGeom prst="rect">
            <a:avLst/>
          </a:prstGeom>
          <a:solidFill>
            <a:srgbClr val="3D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8587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5016"/>
                </a:solidFill>
              </a:rPr>
              <a:t>100% Plant-Based &amp; Clean-Label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70832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Organic, non-GMO ingredients, free from synthetic caffeine or preservatives, for sustained performance.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749039"/>
            <a:ext cx="5669280" cy="2194560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3749039"/>
            <a:ext cx="5669280" cy="45720"/>
          </a:xfrm>
          <a:prstGeom prst="rect">
            <a:avLst/>
          </a:prstGeom>
          <a:solidFill>
            <a:srgbClr val="3D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8587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5016"/>
                </a:solidFill>
              </a:rPr>
              <a:t>Personalized Tech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70832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Upcoming app for energy tracking, usage patterns, and tailored recommendations.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Market Opportunity: India vs.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DAA"/>
                </a:solidFill>
              </a:rPr>
              <a:t>A massive untapped white space — and we are first movers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69280" cy="21031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India Nutraceuticals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40A"/>
                </a:solidFill>
              </a:rPr>
              <a:t>₹65,000 Cr by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88"/>
                </a:solidFill>
              </a:rPr>
              <a:t>21% CAGR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669280" cy="2103120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016"/>
                </a:solidFill>
              </a:rPr>
              <a:t>Yerba Mate Global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40A"/>
                </a:solidFill>
              </a:rPr>
              <a:t>USD 3.5B today → USD 5B by 2030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CAGR 2.5%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5669280" cy="21031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9593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UAE Functional Beverages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40A"/>
                </a:solidFill>
              </a:rPr>
              <a:t>~USD 1.2B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88"/>
                </a:solidFill>
              </a:rPr>
              <a:t>Growing ~8% CAGR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794760"/>
            <a:ext cx="5669280" cy="2103120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9593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016"/>
                </a:solidFill>
              </a:rPr>
              <a:t>Clean-Label Consumer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348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40A"/>
                </a:solidFill>
              </a:rPr>
              <a:t>72% millennials avoid artificial additives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120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Nielsen 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Now? The Perfect Time for DAFUEL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192024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212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Massive Market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212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India's nutraceuticals market projected ₹65,000 Cr by 2026 at 21% CAGR.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577840" cy="192024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212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Clean-Label Consumer Preference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5212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72% of millennials prefer products without artificial additives (Nielsen 2023).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11880"/>
            <a:ext cx="5577840" cy="192024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5212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Global Yerba Mate Popularity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5212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Icons like Messi &amp; Ronaldo driving global Yerba Mate awareness (Forbes, ESPN).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611880"/>
            <a:ext cx="5577840" cy="192024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749040"/>
            <a:ext cx="5212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016"/>
                </a:solidFill>
              </a:rPr>
              <a:t>High Demand for Clean 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40"/>
            <a:ext cx="5212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76% of professionals seek clean energy without crashes (LinkedIn Report).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640493"/>
            <a:ext cx="10916920" cy="662940"/>
          </a:xfrm>
          <a:prstGeom prst="rect">
            <a:avLst/>
          </a:prstGeom>
          <a:solidFill>
            <a:srgbClr val="E8F2E0"/>
          </a:solidFill>
          <a:ln w="12700">
            <a:solidFill>
              <a:srgbClr val="3D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6251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D5016"/>
                </a:solidFill>
              </a:rPr>
              <a:t>No Dominant Market Player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890785"/>
            <a:ext cx="105909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</a:rPr>
              <a:t>Yerba Mate market at USD 3.5B with no established global leader — massive entry opportunity.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DAFUEL: Our Go-To-Market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669280" cy="15544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Target Audience &amp;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540A"/>
                </a:solidFill>
              </a:rPr>
              <a:t>Health-conscious Gen Z &amp; Millennials in Tier-1 cities seeking 'clean energy on the go.'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669280" cy="15544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Product Offering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3852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540A"/>
                </a:solidFill>
              </a:rPr>
              <a:t>Hero SKU: Yerba Mate Gummies (3 flavors), Effervescent tablets, World's first Yerba Mate Kombucha (3 flavors).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5669280" cy="1554480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Distribution Channel (Phase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2160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D2C via website &amp; Instagram Shop, Amazon, Flipkart, Blinkit — Shopify + Razorpay + Shiprocket.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154680"/>
            <a:ext cx="5669280" cy="1554480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291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Content Strategy &amp;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2160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Influencer-led UGC, performance ads (Reels, Shorts), community via WhatsApp/Discord, email drip.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5669280" cy="1554480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D5016"/>
                </a:solidFill>
              </a:rPr>
              <a:t>Sampling &amp;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0468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Partner with gyms/studios for samples + QR code feedback, offering discounts for responses.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937760"/>
            <a:ext cx="5669280" cy="1554480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5074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D5016"/>
                </a:solidFill>
              </a:rPr>
              <a:t>Key Metrics to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50468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CAC, Repeat Rate, Feedback Score, Organic Follower Growth, UGC Volume, D2C Revenue Per Visitor.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 |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Fund Utilization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DAA"/>
                </a:solidFill>
              </a:rPr>
              <a:t>INR 50 Lakhs for 10% Equity in Seed 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594360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Seeking INR 50 Lakhs  |  10% Equity  |  ₹5 Cr Post-Money 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48840"/>
            <a:ext cx="3749039" cy="21031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540A"/>
                </a:solidFill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Product Development, Manufacturing &amp;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6440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BDDAA"/>
                </a:solidFill>
              </a:rPr>
              <a:t>GMP-compliant production, safety testing, certifications, RTD expansion.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148840"/>
            <a:ext cx="3749039" cy="21031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22402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540A"/>
                </a:solidFill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88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Branding &amp;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6440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BDDAA"/>
                </a:solidFill>
              </a:rPr>
              <a:t>Visual identity, paid influencer campaigns, content creation, sampling drives.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148840"/>
            <a:ext cx="3749039" cy="21031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22402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540A"/>
                </a:solidFill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788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Distribution &amp; Logistics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6440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BDDAA"/>
                </a:solidFill>
              </a:rPr>
              <a:t>Packaging, warehousing, 2 metro cities launch with 2-hour delivery zones.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72000"/>
            <a:ext cx="5532120" cy="1847088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540A"/>
                </a:solidFill>
              </a:rP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120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Tech &amp; E-Commerce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8756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BDDAA"/>
                </a:solidFill>
              </a:rPr>
              <a:t>D2C website, CRM, loyalty stack, personalization app.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572000"/>
            <a:ext cx="5669279" cy="1847088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4663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540A"/>
                </a:solidFill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2120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Team Building &amp;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68756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BDDAA"/>
                </a:solidFill>
              </a:rPr>
              <a:t>Operations, customer success, legal, and IP protection.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|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Unit Economics: Gummies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DAA"/>
                </a:solidFill>
              </a:rPr>
              <a:t>Updated Price — ₹499 per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6583680" cy="347472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40A"/>
                </a:solidFill>
              </a:rPr>
              <a:t>Selling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371600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540A"/>
                </a:solidFill>
              </a:rPr>
              <a:t>₹499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09928"/>
            <a:ext cx="6583680" cy="3474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755648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Product Cost (COGS)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755648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₹130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93976"/>
            <a:ext cx="6583680" cy="347472"/>
          </a:xfrm>
          <a:prstGeom prst="rect">
            <a:avLst/>
          </a:prstGeom>
          <a:solidFill>
            <a:srgbClr val="EEF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39696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Marketing (Ads, Shopify, Content)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139696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78024"/>
            <a:ext cx="6583680" cy="3474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523744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Shipping / Logistics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523744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62072"/>
            <a:ext cx="6583680" cy="347472"/>
          </a:xfrm>
          <a:prstGeom prst="rect">
            <a:avLst/>
          </a:prstGeom>
          <a:solidFill>
            <a:srgbClr val="EEF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907791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Miscellaneous Buffer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907791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46120"/>
            <a:ext cx="6583680" cy="3474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291839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Returns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291839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30168"/>
            <a:ext cx="6583680" cy="34747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675887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Total Variable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675887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₹330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14215"/>
            <a:ext cx="6583680" cy="34747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059935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Gross Profit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059935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₹169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98264"/>
            <a:ext cx="6583680" cy="34747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443983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Gross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443983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33.9%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1325880"/>
            <a:ext cx="4389120" cy="4846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0" y="14173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40A"/>
                </a:solidFill>
              </a:rPr>
              <a:t>EBITDA Summary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19202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88"/>
                </a:solidFill>
              </a:rPr>
              <a:t>EBITDA per unit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19202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₹169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26334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88"/>
                </a:solidFill>
              </a:rPr>
              <a:t>Annual EBITDA
(12,000 units)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263347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₹20.28L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3346704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88"/>
                </a:solidFill>
              </a:rPr>
              <a:t>EBITDA Margin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3346704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33.9%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4059935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88"/>
                </a:solidFill>
              </a:rPr>
              <a:t>Fixed Cost (Annual)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4059935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₹35,000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477316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88"/>
                </a:solidFill>
              </a:rPr>
              <a:t>Breakeven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47731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~18 units/month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54864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88"/>
                </a:solidFill>
              </a:rPr>
              <a:t>AED (export ref.)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54864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~AED 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 |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Unit Economics: Effervescent Tablets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DAA"/>
                </a:solidFill>
              </a:rPr>
              <a:t>Updated Price — ₹279 per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6583680" cy="347472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40A"/>
                </a:solidFill>
              </a:rPr>
              <a:t>Selling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371600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540A"/>
                </a:solidFill>
              </a:rPr>
              <a:t>₹279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09928"/>
            <a:ext cx="6583680" cy="3474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755648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Product Cost (COGS)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755648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93976"/>
            <a:ext cx="6583680" cy="347472"/>
          </a:xfrm>
          <a:prstGeom prst="rect">
            <a:avLst/>
          </a:prstGeom>
          <a:solidFill>
            <a:srgbClr val="EEF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39696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Marketing (Ads, Shopify, Content)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139696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78024"/>
            <a:ext cx="6583680" cy="3474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523744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Shipping / Logistics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523744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₹32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62072"/>
            <a:ext cx="6583680" cy="347472"/>
          </a:xfrm>
          <a:prstGeom prst="rect">
            <a:avLst/>
          </a:prstGeom>
          <a:solidFill>
            <a:srgbClr val="EEF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907791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Miscellaneous Buffer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907791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46120"/>
            <a:ext cx="6583680" cy="3474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291839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Returns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291839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30168"/>
            <a:ext cx="6583680" cy="34747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675887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Total Variable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675887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₹145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14215"/>
            <a:ext cx="6583680" cy="34747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059935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Gross Profit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059935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₹134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98264"/>
            <a:ext cx="6583680" cy="34747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443983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Gross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443983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48.0%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1325880"/>
            <a:ext cx="4389120" cy="4846320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0" y="14173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EBITDA Summary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19202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EBITDA per unit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19202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D5016"/>
                </a:solidFill>
              </a:rPr>
              <a:t>₹134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26334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Annual EBITDA
(12,000 units)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263347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D5016"/>
                </a:solidFill>
              </a:rPr>
              <a:t>₹16.08L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3346704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EBITDA Margin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3346704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D5016"/>
                </a:solidFill>
              </a:rPr>
              <a:t>48.0%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4059935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Fixed Cost (Annual)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4059935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D5016"/>
                </a:solidFill>
              </a:rPr>
              <a:t>₹35,000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477316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Breakeven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47731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D5016"/>
                </a:solidFill>
              </a:rPr>
              <a:t>~22 units/month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54864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AED (export ref.)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54864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D5016"/>
                </a:solidFill>
              </a:rPr>
              <a:t>~AED 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 |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Kombucha Market Opportunity: Global &amp;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DAA"/>
                </a:solidFill>
              </a:rPr>
              <a:t>**TRUYERBA is our Trademark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577840" cy="402336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40A"/>
                </a:solidFill>
              </a:rPr>
              <a:t>Global Market
(Proof of Demand)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~USD 4.26B (2024) → ~USD 9.09B by 2030</a:t>
            </a:r>
          </a:p>
          <a:p>
            <a:pPr algn="l"/>
            <a:r>
              <a:rPr sz="1200" b="0">
                <a:solidFill>
                  <a:srgbClr val="AACC88"/>
                </a:solidFill>
              </a:rPr>
              <a:t>13.5% CAGR</a:t>
            </a:r>
          </a:p>
          <a:p>
            <a:pPr algn="l"/>
            <a:endParaRPr sz="1200" b="0">
              <a:solidFill>
                <a:srgbClr val="AACC88"/>
              </a:solidFill>
            </a:endParaRPr>
          </a:p>
          <a:p>
            <a:pPr algn="l"/>
            <a:r>
              <a:rPr sz="1200" b="1">
                <a:solidFill>
                  <a:srgbClr val="E8540A"/>
                </a:solidFill>
              </a:rPr>
              <a:t>Growth drivers: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Rising demand for functional beverages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Increased gut-health awareness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Preference for low/zero-alcohol alternatives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Continuous flavor innovation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577840" cy="4023360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India Market
(High-Growth White Space)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5016"/>
                </a:solidFill>
              </a:rPr>
              <a:t>~USD 100.8M (2024) → ~USD 439.8M by 2033</a:t>
            </a:r>
          </a:p>
          <a:p>
            <a:pPr algn="l"/>
            <a:r>
              <a:rPr sz="1200" b="0">
                <a:solidFill>
                  <a:srgbClr val="2D5016"/>
                </a:solidFill>
              </a:rPr>
              <a:t>17.8% CAGR</a:t>
            </a:r>
          </a:p>
          <a:p>
            <a:pPr algn="l"/>
            <a:endParaRPr sz="1200" b="0">
              <a:solidFill>
                <a:srgbClr val="2D5016"/>
              </a:solidFill>
            </a:endParaRPr>
          </a:p>
          <a:p>
            <a:pPr algn="l"/>
            <a:r>
              <a:rPr sz="1200" b="1">
                <a:solidFill>
                  <a:srgbClr val="FFFFFF"/>
                </a:solidFill>
              </a:rPr>
              <a:t>India = only 2.4% of global kombucha market in 2024</a:t>
            </a:r>
          </a:p>
          <a:p>
            <a:pPr algn="l"/>
            <a:endParaRPr sz="1200" b="1">
              <a:solidFill>
                <a:srgbClr val="FFFFFF"/>
              </a:solidFill>
            </a:endParaRPr>
          </a:p>
          <a:p>
            <a:pPr algn="l"/>
            <a:r>
              <a:rPr sz="1200" b="0">
                <a:solidFill>
                  <a:srgbClr val="FFFFFF"/>
                </a:solidFill>
              </a:rPr>
              <a:t>Substantial headroom for rapid expansion and adoption.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577840"/>
            <a:ext cx="11430000" cy="640080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559612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2D5016"/>
                </a:solidFill>
              </a:rPr>
              <a:t>"Kombucha is a fast-growing functional beverage globally, and India is scaling even faster — creating a strong timing + distribution opportunity for DAFuel."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|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Kombucha Fits DAFuel: Strategic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55"/>
                </a:solidFill>
              </a:rPr>
              <a:t>Kombucha perfectly complements DAFuel's vision, expanding our clean energy offerings into the rapidly growing functional beverage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3749039" cy="3200400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5016"/>
                </a:solidFill>
              </a:rPr>
              <a:t>Functional &amp; Clean-Label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Integrates seamlessly with our core philosophy of plant-based energy and natural wellness — sharing clean-label values.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194560"/>
            <a:ext cx="3749039" cy="32004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59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40A"/>
                </a:solidFill>
              </a:rPr>
              <a:t>Daily Consumption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92608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88"/>
                </a:solidFill>
              </a:rPr>
              <a:t>Drives higher purchase frequency by positioning DAFuel as a routine, refreshing beverage — not just a supplement.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194560"/>
            <a:ext cx="3749039" cy="3200400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5016"/>
                </a:solidFill>
              </a:rPr>
              <a:t>Cross-Sell Flywheel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2608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Kombucha for gut health + refreshment, Gummies/Effervescents for sustained energy. Ideal for bundle packs and subscription models.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532120"/>
            <a:ext cx="11430000" cy="502920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5504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Product Roadmap:   Gummies  →  Effervescents  →  RTD Kombucha  →  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 | 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Kombucha Go-To-Market Strategy: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55"/>
                </a:solidFill>
              </a:rPr>
              <a:t>Leveraging DAFuel's established presence, we'll strategically introduce Kombucha to key segments within the Indian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3749039" cy="3749039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40A"/>
                </a:solidFill>
              </a:rPr>
              <a:t>Primary Early Adopters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88"/>
                </a:solidFill>
              </a:rPr>
              <a:t>Targeting health-conscious Gen Z &amp; Millennials in Tier-1 cities: fitness/wellness enthusiasts, premium café patrons, and corporate professionals seeking functional beverages.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103120"/>
            <a:ext cx="3749039" cy="3749039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80559" y="2240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Distribution 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5016"/>
                </a:solidFill>
              </a:rPr>
              <a:t>Expanding beyond D2C &amp; marketplace to include Quick Commerce partnerships (with cold-chain capabilities) and targeted sampling at gyms and wellness studios.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103120"/>
            <a:ext cx="3749039" cy="3749039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240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40A"/>
                </a:solidFill>
              </a:rPr>
              <a:t>Kombucha-Specific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Tracking repeat purchase rate by flavor, cold-chain CAC uplift, on-trade café reorders, spoilage/returns, and subscription attachment rates to optimize strategy.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CC88"/>
                </a:solidFill>
              </a:rPr>
              <a:t>DAFUEL — Confidential  | 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Unit Economics: Kombucha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DAA"/>
                </a:solidFill>
              </a:rPr>
              <a:t>Price — ₹169 per bottle  (Unchanged)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6583680" cy="347472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40A"/>
                </a:solidFill>
              </a:rPr>
              <a:t>Selling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371600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540A"/>
                </a:solidFill>
              </a:rPr>
              <a:t>₹169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09928"/>
            <a:ext cx="6583680" cy="3474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755648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Product Cost (COGS)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755648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93976"/>
            <a:ext cx="6583680" cy="347472"/>
          </a:xfrm>
          <a:prstGeom prst="rect">
            <a:avLst/>
          </a:prstGeom>
          <a:solidFill>
            <a:srgbClr val="EEF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39696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Marketing (Ads, Shopify, Content)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139696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78024"/>
            <a:ext cx="6583680" cy="3474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523744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Shipping / Logistics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523744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62072"/>
            <a:ext cx="6583680" cy="347472"/>
          </a:xfrm>
          <a:prstGeom prst="rect">
            <a:avLst/>
          </a:prstGeom>
          <a:solidFill>
            <a:srgbClr val="EEF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907791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Miscellaneous Buffer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907791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46120"/>
            <a:ext cx="6583680" cy="3474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291839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Returns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291839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22222"/>
                </a:solidFill>
              </a:rPr>
              <a:t>₹3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30168"/>
            <a:ext cx="6583680" cy="34747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675887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Total Variable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675887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₹121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14215"/>
            <a:ext cx="6583680" cy="34747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059935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Gross Profit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059935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₹48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98264"/>
            <a:ext cx="6583680" cy="34747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443983"/>
            <a:ext cx="5029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Gross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443983"/>
            <a:ext cx="15544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28.4%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1325880"/>
            <a:ext cx="4389120" cy="4846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0" y="14173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40A"/>
                </a:solidFill>
              </a:rPr>
              <a:t>EBITDA Summary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19202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EBITDA per unit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19202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₹44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26334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Annual EBITDA
(12,000 units)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263347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₹5.28L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3346704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EBITDA Margin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3346704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4059935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Fixed Cost (Annual)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4059935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₹35,000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477316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Breakeven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47731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~67 units/month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54864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AED (export ref.)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54864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~AED 7.5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88"/>
                </a:solidFill>
              </a:rPr>
              <a:t>DAFUEL — Confidential  |  UAE Edition  | 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1188720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Coming Soon: TRUYERBA Power Drink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7F3EC"/>
                </a:solidFill>
              </a:rPr>
              <a:t>The next evolution in clean, plant-based energy — now in a can</a:t>
            </a:r>
          </a:p>
        </p:txBody>
      </p:sp>
      <p:pic>
        <p:nvPicPr>
          <p:cNvPr id="6" name="Picture 5" descr="ChatGPT Image Apr 17, 2026, 12_50_22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3048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13258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40A"/>
                </a:solidFill>
              </a:rPr>
              <a:t>TRUYERBA YERBA MATE POWER DRINK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7F3EC"/>
                </a:solidFill>
              </a:rPr>
              <a:t>250 ml Can  |  Natural Caffeine  |  No Jitters. No Crashes.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5669280" cy="58521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31100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40A"/>
                </a:solidFill>
              </a:rPr>
              <a:t>Natural Caffeine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460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3EC"/>
                </a:solidFill>
              </a:rPr>
              <a:t>Pure Yerba Mate extract — zero synthetic stimulants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44368"/>
            <a:ext cx="5669280" cy="58521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96936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40A"/>
                </a:solidFill>
              </a:rPr>
              <a:t>Theophylline + Theobromine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043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3EC"/>
                </a:solidFill>
              </a:rPr>
              <a:t>Three active compounds for smooth, lasting energy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02736"/>
            <a:ext cx="5669280" cy="58521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62773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40A"/>
                </a:solidFill>
              </a:rPr>
              <a:t>No Jitters. No Crashes.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627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3EC"/>
                </a:solidFill>
              </a:rPr>
              <a:t>Clean energy curve without the comedown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61104"/>
            <a:ext cx="5669280" cy="58521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28610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40A"/>
                </a:solidFill>
              </a:rPr>
              <a:t>Original Flavour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2110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3EC"/>
                </a:solidFill>
              </a:rPr>
              <a:t>Authentic South American taste profile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19472"/>
            <a:ext cx="5669280" cy="58521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94447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40A"/>
                </a:solidFill>
              </a:rPr>
              <a:t>Ready-to-Drink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794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3EC"/>
                </a:solidFill>
              </a:rPr>
              <a:t>Portable 250 ml can — perfect for gym, office &amp; travel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96128"/>
            <a:ext cx="2377440" cy="384048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55961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LAUNCHING SOON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825" cy="292608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DAFUEL  |  Confidential  | 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You'll Get from DAFUEL?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DAA"/>
                </a:solidFill>
              </a:rPr>
              <a:t>Exit Potential — Updated Projections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594360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5× EBITDA Multiple (Conservative)  |  Blended ~36% EBITDA Margin  |  ₹1Cr EBITDA milestone: Year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• 10% equity value at ₹5 Cr valuation = ₹50 L (equals invested principal; upside from profit share &amp; higher exit multiples)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• Expected exit in 3–4 years  |  Y5 standalone ROI ≈ 111% from profit-share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• Sources: Kroll Industry Multiples (Feb 2025), Eqvista &amp; FullRatio Global Benchmarks, Axial M&amp;A Data, CMIE BSE Comps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1609344" cy="420624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334670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3291840"/>
            <a:ext cx="2066543" cy="420624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84832" y="3346704"/>
            <a:ext cx="1920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3291840"/>
            <a:ext cx="2249424" cy="420624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87952" y="334670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EBITDA (@36%)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291840"/>
            <a:ext cx="2523744" cy="420624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3346704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INVESTOR'S 10% SHARE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291840"/>
            <a:ext cx="1700784" cy="420624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34272" y="334670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ROI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12464"/>
            <a:ext cx="1609344" cy="402336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376732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5016"/>
                </a:solidFill>
              </a:rPr>
              <a:t>Y1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3712464"/>
            <a:ext cx="2066543" cy="402336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84832" y="3767328"/>
            <a:ext cx="19202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₹96 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712464"/>
            <a:ext cx="2249424" cy="402336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87952" y="376732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₹0.35 Cr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712464"/>
            <a:ext cx="2523744" cy="402336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3767328"/>
            <a:ext cx="2377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₹3.46 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3712464"/>
            <a:ext cx="1700784" cy="402336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34272" y="376732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6.9%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33088"/>
            <a:ext cx="16093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" y="418795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5016"/>
                </a:solidFill>
              </a:rPr>
              <a:t>Y2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4133088"/>
            <a:ext cx="2066543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84832" y="4187952"/>
            <a:ext cx="19202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₹1.92 Cr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4133088"/>
            <a:ext cx="224942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87952" y="41879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₹0.69 Cr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133088"/>
            <a:ext cx="25237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3952" y="4187952"/>
            <a:ext cx="2377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₹6.92 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4133088"/>
            <a:ext cx="17007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34272" y="418795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13.8%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553712"/>
            <a:ext cx="1609344" cy="402336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460857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Y3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0" y="4553712"/>
            <a:ext cx="2066543" cy="402336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84832" y="4608576"/>
            <a:ext cx="19202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₹3.84 Cr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4553712"/>
            <a:ext cx="2249424" cy="402336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87952" y="460857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₹1.38 Cr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553712"/>
            <a:ext cx="2523744" cy="402336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73952" y="4608576"/>
            <a:ext cx="2377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₹13.84 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61120" y="4553712"/>
            <a:ext cx="1700784" cy="402336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034272" y="460857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27.7%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974336"/>
            <a:ext cx="16093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8912" y="502920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5016"/>
                </a:solidFill>
              </a:rPr>
              <a:t>Y4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11680" y="4974336"/>
            <a:ext cx="2066543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084832" y="5029200"/>
            <a:ext cx="19202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₹7.68 Cr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4974336"/>
            <a:ext cx="224942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87952" y="502920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₹2.77 Cr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4974336"/>
            <a:ext cx="25237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73952" y="5029200"/>
            <a:ext cx="2377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₹27.67 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61120" y="4974336"/>
            <a:ext cx="17007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034272" y="502920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55.3%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394960"/>
            <a:ext cx="1609344" cy="402336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8912" y="544982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5016"/>
                </a:solidFill>
              </a:rPr>
              <a:t>Y5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11680" y="5394960"/>
            <a:ext cx="2066543" cy="402336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084832" y="5449824"/>
            <a:ext cx="19202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₹15.36 Cr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0" y="5394960"/>
            <a:ext cx="2249424" cy="402336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187952" y="544982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₹5.53 Cr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5394960"/>
            <a:ext cx="2523744" cy="402336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73952" y="5449824"/>
            <a:ext cx="2377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₹55.34 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20" y="5394960"/>
            <a:ext cx="1700784" cy="402336"/>
          </a:xfrm>
          <a:prstGeom prst="rect">
            <a:avLst/>
          </a:prstGeom>
          <a:solidFill>
            <a:srgbClr val="E8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034272" y="544982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110.7%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263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5016"/>
                </a:solidFill>
              </a:rPr>
              <a:t>★ Y3 highlighted: ₹1 Cr EBITDA milestone reached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88"/>
                </a:solidFill>
              </a:rPr>
              <a:t>DAFUEL — Confidential  |  UAE Edition  | 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37160"/>
            <a:ext cx="12188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Meet the Founders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669280" cy="4754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669280" cy="54864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540A"/>
                </a:solidFill>
              </a:rPr>
              <a:t>Ankush Sharma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CC88"/>
                </a:solidFill>
              </a:rPr>
              <a:t>Co-Founder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NIT Jalandhar alumnus with a passion for public wellness and consumer health. His background in civil service and deep understanding of India's evolving consumer behavior offers a strategic advantage in the fast-growing nutraceutical sector.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371600"/>
            <a:ext cx="5669280" cy="4754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5669280" cy="54864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508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540A"/>
                </a:solidFill>
              </a:rPr>
              <a:t>Davinder Pal Singh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057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CC88"/>
                </a:solidFill>
              </a:rPr>
              <a:t>Co-Founder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5146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NIT Jalandhar alumnus with over 5 years of tech industry experience, driving product innovation and scalable digital solutions. His strong tech foundation enables DAFuel to integrate personalization and AI, creating a tech-led differentiation.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0" y="6236208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Thank You!   |   DAFUEL — Reimagining How The World Energizes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1188720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Get In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7F3EC"/>
                </a:solidFill>
              </a:rPr>
              <a:t>Let's build the future of clean energy together</a:t>
            </a:r>
          </a:p>
        </p:txBody>
      </p:sp>
      <p:pic>
        <p:nvPicPr>
          <p:cNvPr id="6" name="Picture 5" descr="Image (19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25880"/>
            <a:ext cx="2194560" cy="2194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1371600"/>
            <a:ext cx="4023360" cy="1143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46304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40A"/>
                </a:solidFill>
              </a:rPr>
              <a:t>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10512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www.truyerba.in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79192"/>
            <a:ext cx="4023360" cy="1143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277063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40A"/>
                </a:solidFill>
              </a:rPr>
              <a:t>PHONE / 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118104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+91 8988804848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986784"/>
            <a:ext cx="4023360" cy="1143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4078224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40A"/>
                </a:solidFill>
              </a:rPr>
              <a:t>INSTAGRAM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425696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@truyerba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371600"/>
            <a:ext cx="4023360" cy="1143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8" y="146304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40A"/>
                </a:solidFill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1810512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truyerba@gmail.com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679192"/>
            <a:ext cx="4023360" cy="1143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6008" y="277063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40A"/>
                </a:solidFill>
              </a:rPr>
              <a:t>PRESS &amp; 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3118104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press@truyerba.com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986784"/>
            <a:ext cx="4023360" cy="1143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8" y="4078224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40A"/>
                </a:solidFill>
              </a:rPr>
              <a:t>ADDRESS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425696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Plot No. 337, WorkYard Coworking
Industrial Area Phase 2, Chandigarh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5074920"/>
            <a:ext cx="1218882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40A"/>
                </a:solidFill>
              </a:rPr>
              <a:t>Thank You  |  DAFUEL Innovation Pvt Ltd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825" cy="292608"/>
          </a:xfrm>
          <a:prstGeom prst="rect">
            <a:avLst/>
          </a:prstGeom>
          <a:solidFill>
            <a:srgbClr val="E8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DAFUEL  |  Confidential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2032</Words>
  <Application>Microsoft Office PowerPoint</Application>
  <PresentationFormat>Custom</PresentationFormat>
  <Paragraphs>336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Davinderpal Singh</cp:lastModifiedBy>
  <cp:revision>4</cp:revision>
  <dcterms:created xsi:type="dcterms:W3CDTF">2013-01-27T09:14:16Z</dcterms:created>
  <dcterms:modified xsi:type="dcterms:W3CDTF">2026-05-10T20:07:10Z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63535f3-a261-44fa-a080-b5a7b0a48f70_Enabled">
    <vt:lpwstr>true</vt:lpwstr>
  </property>
  <property fmtid="{D5CDD505-2E9C-101B-9397-08002B2CF9AE}" pid="3" name="MSIP_Label_163535f3-a261-44fa-a080-b5a7b0a48f70_SetDate">
    <vt:lpwstr>2026-05-10T19:41:24Z</vt:lpwstr>
  </property>
  <property fmtid="{D5CDD505-2E9C-101B-9397-08002B2CF9AE}" pid="4" name="MSIP_Label_163535f3-a261-44fa-a080-b5a7b0a48f70_Method">
    <vt:lpwstr>Standard</vt:lpwstr>
  </property>
  <property fmtid="{D5CDD505-2E9C-101B-9397-08002B2CF9AE}" pid="5" name="MSIP_Label_163535f3-a261-44fa-a080-b5a7b0a48f70_Name">
    <vt:lpwstr>UKG DLP Protected</vt:lpwstr>
  </property>
  <property fmtid="{D5CDD505-2E9C-101B-9397-08002B2CF9AE}" pid="6" name="MSIP_Label_163535f3-a261-44fa-a080-b5a7b0a48f70_SiteId">
    <vt:lpwstr>7b6f35d2-1f98-4e5e-82eb-e78f6ea5a1de</vt:lpwstr>
  </property>
  <property fmtid="{D5CDD505-2E9C-101B-9397-08002B2CF9AE}" pid="7" name="MSIP_Label_163535f3-a261-44fa-a080-b5a7b0a48f70_ActionId">
    <vt:lpwstr>6b07490a-0acc-4254-81ad-eee7adc669a7</vt:lpwstr>
  </property>
  <property fmtid="{D5CDD505-2E9C-101B-9397-08002B2CF9AE}" pid="8" name="MSIP_Label_163535f3-a261-44fa-a080-b5a7b0a48f70_ContentBits">
    <vt:lpwstr>0</vt:lpwstr>
  </property>
  <property fmtid="{D5CDD505-2E9C-101B-9397-08002B2CF9AE}" pid="9" name="MSIP_Label_163535f3-a261-44fa-a080-b5a7b0a48f70_Tag">
    <vt:lpwstr>10, 3, 0, 1</vt:lpwstr>
  </property>
</Properties>
</file>