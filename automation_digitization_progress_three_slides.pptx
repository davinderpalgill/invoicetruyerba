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and Digitization Progress Update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Status chart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1560" y="1143000"/>
            <a:ext cx="1010412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pic>
        <p:nvPicPr>
          <p:cNvPr id="6" name="Image 0" descr="/mnt/data/donut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325880"/>
            <a:ext cx="489204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598932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B7D900"/>
          </a:solidFill>
          <a:ln w="12700">
            <a:solidFill>
              <a:srgbClr val="B7D9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5943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Closed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598932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4B28E8"/>
          </a:solidFill>
          <a:ln w="12700">
            <a:solidFill>
              <a:srgbClr val="4B2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5943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WIP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and Digitization Progress Update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Quarterly progress table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106527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508760"/>
          <a:ext cx="10104120" cy="3794760"/>
        </p:xfrm>
        <a:graphic>
          <a:graphicData uri="http://schemas.openxmlformats.org/drawingml/2006/table">
            <a:tbl>
              <a:tblPr/>
              <a:tblGrid>
                <a:gridCol w="1691640"/>
                <a:gridCol w="2148840"/>
                <a:gridCol w="1600200"/>
                <a:gridCol w="260604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Completed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WIP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Planned in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Next FY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Q1–Q2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Q4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9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dirty="0">
                          <a:solidFill>
                            <a:srgbClr val="11111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A4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and Digitization Progress Update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Process improvement breakdown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092708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0" y="1298448"/>
            <a:ext cx="0" cy="416052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5060" y="1298448"/>
            <a:ext cx="0" cy="416052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1298448"/>
            <a:ext cx="0" cy="416052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5532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03620" y="5532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58200" y="5532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858500" y="5532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15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527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Cost Optimized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94760" y="1600200"/>
            <a:ext cx="960120" cy="310896"/>
          </a:xfrm>
          <a:prstGeom prst="rect">
            <a:avLst/>
          </a:prstGeom>
          <a:solidFill>
            <a:srgbClr val="B7D900"/>
          </a:solidFill>
          <a:ln w="12700">
            <a:solidFill>
              <a:srgbClr val="B7D9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1600200"/>
            <a:ext cx="960120" cy="155448"/>
          </a:xfrm>
          <a:prstGeom prst="rect">
            <a:avLst/>
          </a:prstGeom>
          <a:solidFill>
            <a:srgbClr val="4F8900">
              <a:alpha val="82000"/>
            </a:srgbClr>
          </a:solidFill>
          <a:ln w="12700">
            <a:solidFill>
              <a:srgbClr val="4F89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544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6B00"/>
                </a:solidFill>
              </a:rPr>
              <a:t>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8680" y="2313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Effort &amp; TAT Reduced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94760" y="2386584"/>
            <a:ext cx="4800600" cy="310896"/>
          </a:xfrm>
          <a:prstGeom prst="rect">
            <a:avLst/>
          </a:prstGeom>
          <a:solidFill>
            <a:srgbClr val="B7D900"/>
          </a:solidFill>
          <a:ln w="12700">
            <a:solidFill>
              <a:srgbClr val="B7D9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2386584"/>
            <a:ext cx="4800600" cy="155448"/>
          </a:xfrm>
          <a:prstGeom prst="rect">
            <a:avLst/>
          </a:prstGeom>
          <a:solidFill>
            <a:srgbClr val="4F8900">
              <a:alpha val="82000"/>
            </a:srgbClr>
          </a:solidFill>
          <a:ln w="12700">
            <a:solidFill>
              <a:srgbClr val="4F89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23408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6B00"/>
                </a:solidFill>
              </a:rPr>
              <a:t>10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8680" y="30998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Dependency Reduced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94760" y="3172968"/>
            <a:ext cx="1920240" cy="310896"/>
          </a:xfrm>
          <a:prstGeom prst="rect">
            <a:avLst/>
          </a:prstGeom>
          <a:solidFill>
            <a:srgbClr val="B7D900"/>
          </a:solidFill>
          <a:ln w="12700">
            <a:solidFill>
              <a:srgbClr val="B7D90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3172968"/>
            <a:ext cx="1920240" cy="155448"/>
          </a:xfrm>
          <a:prstGeom prst="rect">
            <a:avLst/>
          </a:prstGeom>
          <a:solidFill>
            <a:srgbClr val="4F8900">
              <a:alpha val="82000"/>
            </a:srgbClr>
          </a:solidFill>
          <a:ln w="12700">
            <a:solidFill>
              <a:srgbClr val="4F89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31272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6B00"/>
                </a:solidFill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8680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Compliance &amp; Tracking Improved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94760" y="3959352"/>
            <a:ext cx="1920240" cy="310896"/>
          </a:xfrm>
          <a:prstGeom prst="rect">
            <a:avLst/>
          </a:prstGeom>
          <a:solidFill>
            <a:srgbClr val="B7D900"/>
          </a:solidFill>
          <a:ln w="12700">
            <a:solidFill>
              <a:srgbClr val="B7D9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3959352"/>
            <a:ext cx="1920240" cy="155448"/>
          </a:xfrm>
          <a:prstGeom prst="rect">
            <a:avLst/>
          </a:prstGeom>
          <a:solidFill>
            <a:srgbClr val="4F8900">
              <a:alpha val="82000"/>
            </a:srgbClr>
          </a:solidFill>
          <a:ln w="12700">
            <a:solidFill>
              <a:srgbClr val="4F89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39136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6B00"/>
                </a:solidFill>
              </a:rPr>
              <a:t>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68680" y="4672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Existing Process Improvement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94760" y="4745736"/>
            <a:ext cx="6720840" cy="310896"/>
          </a:xfrm>
          <a:prstGeom prst="rect">
            <a:avLst/>
          </a:prstGeom>
          <a:solidFill>
            <a:srgbClr val="B7D900"/>
          </a:solidFill>
          <a:ln w="12700">
            <a:solidFill>
              <a:srgbClr val="B7D9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4745736"/>
            <a:ext cx="6720840" cy="155448"/>
          </a:xfrm>
          <a:prstGeom prst="rect">
            <a:avLst/>
          </a:prstGeom>
          <a:solidFill>
            <a:srgbClr val="4F8900">
              <a:alpha val="82000"/>
            </a:srgbClr>
          </a:solidFill>
          <a:ln w="12700">
            <a:solidFill>
              <a:srgbClr val="4F89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52760" y="47000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6B00"/>
                </a:solidFill>
              </a:rPr>
              <a:t>14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31520" y="608076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</a:rPr>
              <a:t>*Process can overlap in multiple categories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and Digitization Progress</dc:title>
  <dc:subject>Automation and Digitization Progress</dc:subject>
  <dc:creator>OpenAI</dc:creator>
  <cp:lastModifiedBy>OpenAI</cp:lastModifiedBy>
  <cp:revision>1</cp:revision>
  <dcterms:created xsi:type="dcterms:W3CDTF">2026-05-11T08:33:06Z</dcterms:created>
  <dcterms:modified xsi:type="dcterms:W3CDTF">2026-05-11T08:33:06Z</dcterms:modified>
</cp:coreProperties>
</file>